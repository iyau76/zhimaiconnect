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64F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887968" y="658368"/>
            <a:ext cx="2450592" cy="245059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-mark-3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1704" y="832104"/>
            <a:ext cx="2103120" cy="21031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58368" y="658368"/>
            <a:ext cx="2907792" cy="329184"/>
          </a:xfrm>
          <a:prstGeom prst="roundRect">
            <a:avLst/>
          </a:prstGeom>
          <a:solidFill>
            <a:srgbClr val="701FEB"/>
          </a:solidFill>
          <a:ln>
            <a:solidFill>
              <a:srgbClr val="701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 a:ea="Microsoft YaHei" a:latin="Aptos">
                <a:solidFill>
                  <a:srgbClr val="FFFFFF"/>
                </a:solidFill>
                <a:latin typeface="Microsoft YaHei"/>
              </a:rPr>
              <a:t>LOCAL-FIRST · EVIDENCE-BOUND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389888"/>
            <a:ext cx="78638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200" b="1" a:ea="Microsoft YaHei" a:latin="Aptos">
                <a:solidFill>
                  <a:srgbClr val="FFFFFF"/>
                </a:solidFill>
                <a:latin typeface="Microsoft YaHei"/>
              </a:rPr>
              <a:t>知脉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74980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a:ea="Microsoft YaHei" a:latin="Aptos">
                <a:solidFill>
                  <a:srgbClr val="EBE7F4"/>
                </a:solidFill>
                <a:latin typeface="Microsoft YaHei"/>
              </a:rPr>
              <a:t>把零散关系记忆，变成
可复核、可追溯、可行动的个人知识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767328"/>
            <a:ext cx="1417320" cy="329184"/>
          </a:xfrm>
          <a:prstGeom prst="roundRect">
            <a:avLst/>
          </a:prstGeom>
          <a:solidFill>
            <a:srgbClr val="322B48"/>
          </a:solidFill>
          <a:ln>
            <a:solidFill>
              <a:srgbClr val="32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 a:ea="Microsoft YaHei" a:latin="Aptos">
                <a:solidFill>
                  <a:srgbClr val="FFFFFF"/>
                </a:solidFill>
                <a:latin typeface="Microsoft YaHei"/>
              </a:rPr>
              <a:t>用户主动提供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67712" y="3767328"/>
            <a:ext cx="1417320" cy="329184"/>
          </a:xfrm>
          <a:prstGeom prst="roundRect">
            <a:avLst/>
          </a:prstGeom>
          <a:solidFill>
            <a:srgbClr val="322B48"/>
          </a:solidFill>
          <a:ln>
            <a:solidFill>
              <a:srgbClr val="32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 a:ea="Microsoft YaHei" a:latin="Aptos">
                <a:solidFill>
                  <a:srgbClr val="FFFFFF"/>
                </a:solidFill>
                <a:latin typeface="Microsoft YaHei"/>
              </a:rPr>
              <a:t>确认后入库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9624" y="3767328"/>
            <a:ext cx="1417320" cy="329184"/>
          </a:xfrm>
          <a:prstGeom prst="roundRect">
            <a:avLst/>
          </a:prstGeom>
          <a:solidFill>
            <a:srgbClr val="322B48"/>
          </a:solidFill>
          <a:ln>
            <a:solidFill>
              <a:srgbClr val="32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 a:ea="Microsoft YaHei" a:latin="Aptos">
                <a:solidFill>
                  <a:srgbClr val="FFFFFF"/>
                </a:solidFill>
                <a:latin typeface="Microsoft YaHei"/>
              </a:rPr>
              <a:t>本地确定排序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31536" y="3767328"/>
            <a:ext cx="1600200" cy="329184"/>
          </a:xfrm>
          <a:prstGeom prst="roundRect">
            <a:avLst/>
          </a:prstGeom>
          <a:solidFill>
            <a:srgbClr val="322B48"/>
          </a:solidFill>
          <a:ln>
            <a:solidFill>
              <a:srgbClr val="322B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 a:ea="Microsoft YaHei" a:latin="Aptos">
                <a:solidFill>
                  <a:srgbClr val="FFFFFF"/>
                </a:solidFill>
                <a:latin typeface="Microsoft YaHei"/>
              </a:rPr>
              <a:t>AI 只做解释润色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873752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a:ea="Microsoft YaHei" a:latin="Aptos">
                <a:solidFill>
                  <a:srgbClr val="BEB7CD"/>
                </a:solidFill>
                <a:latin typeface="Microsoft YaHei"/>
              </a:rPr>
              <a:t>Vibe Coding 赛道 · 五分钟产品演示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797296"/>
            <a:ext cx="8686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1" a:ea="Microsoft YaHei" a:latin="Aptos">
                <a:solidFill>
                  <a:srgbClr val="FFB1D2"/>
                </a:solidFill>
                <a:latin typeface="Microsoft YaHei"/>
              </a:rPr>
              <a:t>队长：[待填写]   ·   院系：[待填写]   ·   部署二维码：[待填写]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43616" y="6126480"/>
            <a:ext cx="841248" cy="329184"/>
          </a:xfrm>
          <a:prstGeom prst="roundRect">
            <a:avLst/>
          </a:prstGeom>
          <a:solidFill>
            <a:srgbClr val="F64F8B"/>
          </a:solidFill>
          <a:ln>
            <a:solidFill>
              <a:srgbClr val="F6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 a:ea="Microsoft YaHei" a:latin="Aptos">
                <a:solidFill>
                  <a:srgbClr val="FFFFFF"/>
                </a:solidFill>
                <a:latin typeface="Microsoft YaHei"/>
              </a:rPr>
              <a:t>15 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 a:ea="Microsoft YaHei" a:latin="Aptos">
                <a:solidFill>
                  <a:srgbClr val="701FEB"/>
                </a:solidFill>
                <a:latin typeface="Microsoft YaHei"/>
              </a:rPr>
              <a:t>01 · PAIN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30936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a:ea="Microsoft YaHei" a:latin="Aptos">
                <a:solidFill>
                  <a:srgbClr val="1F1F2D"/>
                </a:solidFill>
                <a:latin typeface="Microsoft YaHei"/>
              </a:rPr>
              <a:t>真正的断点发生在“要行动”的那一刻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a:ea="Microsoft YaHei" a:latin="Aptos">
                <a:solidFill>
                  <a:srgbClr val="605C6F"/>
                </a:solidFill>
                <a:latin typeface="Microsoft YaHei"/>
              </a:rPr>
              <a:t>关系信息并不稀缺，但缺少可信的调用方式。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90504" y="292608"/>
            <a:ext cx="713232" cy="329184"/>
          </a:xfrm>
          <a:prstGeom prst="roundRect">
            <a:avLst/>
          </a:prstGeom>
          <a:solidFill>
            <a:srgbClr val="EBE0FF"/>
          </a:solidFill>
          <a:ln>
            <a:solidFill>
              <a:srgbClr val="EB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 a:ea="Microsoft YaHei" a:latin="Aptos">
                <a:solidFill>
                  <a:srgbClr val="701FEB"/>
                </a:solidFill>
                <a:latin typeface="Microsoft YaHei"/>
              </a:rPr>
              <a:t>25 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0" a:ea="Microsoft YaHei" a:latin="Aptos">
                <a:solidFill>
                  <a:srgbClr val="605C6F"/>
                </a:solidFill>
                <a:latin typeface="Microsoft YaHe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719072"/>
            <a:ext cx="2834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a:ea="Microsoft YaHei" a:latin="Aptos">
                <a:solidFill>
                  <a:srgbClr val="605C6F"/>
                </a:solidFill>
                <a:latin typeface="Microsoft YaHei"/>
              </a:rPr>
              <a:t>碎片化输入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1188720" cy="329184"/>
          </a:xfrm>
          <a:prstGeom prst="roundRect">
            <a:avLst/>
          </a:prstGeom>
          <a:solidFill>
            <a:srgbClr val="FFE5EF"/>
          </a:solidFill>
          <a:ln>
            <a:solidFill>
              <a:srgbClr val="F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 a:ea="Microsoft YaHei" a:latin="Aptos">
                <a:solidFill>
                  <a:srgbClr val="1F1F2D"/>
                </a:solidFill>
                <a:latin typeface="Microsoft YaHei"/>
              </a:rPr>
              <a:t>聊天截图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93391" y="2148840"/>
            <a:ext cx="1188720" cy="329184"/>
          </a:xfrm>
          <a:prstGeom prst="roundRect">
            <a:avLst/>
          </a:prstGeom>
          <a:solidFill>
            <a:srgbClr val="EBE0FF"/>
          </a:solidFill>
          <a:ln>
            <a:solidFill>
              <a:srgbClr val="EB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 a:ea="Microsoft YaHei" a:latin="Aptos">
                <a:solidFill>
                  <a:srgbClr val="1F1F2D"/>
                </a:solidFill>
                <a:latin typeface="Microsoft YaHei"/>
              </a:rPr>
              <a:t>活动名单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15768"/>
            <a:ext cx="1188720" cy="329184"/>
          </a:xfrm>
          <a:prstGeom prst="roundRect">
            <a:avLst/>
          </a:prstGeom>
          <a:solidFill>
            <a:srgbClr val="DDF6F1"/>
          </a:solidFill>
          <a:ln>
            <a:solidFill>
              <a:srgbClr val="DD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 a:ea="Microsoft YaHei" a:latin="Aptos">
                <a:solidFill>
                  <a:srgbClr val="1F1F2D"/>
                </a:solidFill>
                <a:latin typeface="Microsoft YaHei"/>
              </a:rPr>
              <a:t>语音记忆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93391" y="2715768"/>
            <a:ext cx="1188720" cy="329184"/>
          </a:xfrm>
          <a:prstGeom prst="roundRect">
            <a:avLst/>
          </a:prstGeom>
          <a:solidFill>
            <a:srgbClr val="F2EFF7"/>
          </a:solidFill>
          <a:ln>
            <a:solidFill>
              <a:srgbClr val="F2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100" b="1" a:ea="Microsoft YaHei" a:latin="Aptos">
                <a:solidFill>
                  <a:srgbClr val="1F1F2D"/>
                </a:solidFill>
                <a:latin typeface="Microsoft YaHei"/>
              </a:rPr>
              <a:t>脑海印象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474720" y="2606040"/>
            <a:ext cx="932688" cy="0"/>
          </a:xfrm>
          <a:prstGeom prst="line">
            <a:avLst/>
          </a:prstGeom>
          <a:ln w="38100">
            <a:solidFill>
              <a:srgbClr val="F64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4590288" y="1755648"/>
            <a:ext cx="438912" cy="438912"/>
          </a:xfrm>
          <a:prstGeom prst="ellipse">
            <a:avLst/>
          </a:prstGeom>
          <a:solidFill>
            <a:srgbClr val="701FEB"/>
          </a:solidFill>
          <a:ln>
            <a:solidFill>
              <a:srgbClr val="701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latin="Aptos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75504" y="1728216"/>
            <a:ext cx="6144768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1700" b="1" a:ea="Microsoft YaHei" a:latin="Aptos">
                <a:solidFill>
                  <a:srgbClr val="1F1F2D"/>
                </a:solidFill>
                <a:latin typeface="Microsoft YaHei"/>
              </a:rPr>
              <a:t>该找谁？</a:t>
            </a:r>
          </a:p>
          <a:p>
            <a:pPr algn="l">
              <a:spcAft>
                <a:spcPts val="0"/>
              </a:spcAft>
            </a:pPr>
            <a:r>
              <a:rPr sz="1100" b="0" a:ea="Microsoft YaHei" a:latin="Aptos">
                <a:solidFill>
                  <a:srgbClr val="605C6F"/>
                </a:solidFill>
                <a:latin typeface="Microsoft YaHei"/>
              </a:rPr>
              <a:t>不是永久排名，而是当前任务最合适的人</a:t>
            </a:r>
          </a:p>
        </p:txBody>
      </p:sp>
      <p:sp>
        <p:nvSpPr>
          <p:cNvPr id="15" name="Oval 14"/>
          <p:cNvSpPr/>
          <p:nvPr/>
        </p:nvSpPr>
        <p:spPr>
          <a:xfrm>
            <a:off x="4590288" y="2871215"/>
            <a:ext cx="438912" cy="438912"/>
          </a:xfrm>
          <a:prstGeom prst="ellipse">
            <a:avLst/>
          </a:prstGeom>
          <a:solidFill>
            <a:srgbClr val="F64F8B"/>
          </a:solidFill>
          <a:ln>
            <a:solidFill>
              <a:srgbClr val="F6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latin="Aptos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75504" y="2843784"/>
            <a:ext cx="6144768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1700" b="1" a:ea="Microsoft YaHei" a:latin="Aptos">
                <a:solidFill>
                  <a:srgbClr val="1F1F2D"/>
                </a:solidFill>
                <a:latin typeface="Microsoft YaHei"/>
              </a:rPr>
              <a:t>依据是什么？</a:t>
            </a:r>
          </a:p>
          <a:p>
            <a:pPr algn="l">
              <a:spcAft>
                <a:spcPts val="0"/>
              </a:spcAft>
            </a:pPr>
            <a:r>
              <a:rPr sz="1100" b="0" a:ea="Microsoft YaHei" a:latin="Aptos">
                <a:solidFill>
                  <a:srgbClr val="605C6F"/>
                </a:solidFill>
                <a:latin typeface="Microsoft YaHei"/>
              </a:rPr>
              <a:t>技能、共同事件、来源与风险必须可查</a:t>
            </a:r>
          </a:p>
        </p:txBody>
      </p:sp>
      <p:sp>
        <p:nvSpPr>
          <p:cNvPr id="17" name="Oval 16"/>
          <p:cNvSpPr/>
          <p:nvPr/>
        </p:nvSpPr>
        <p:spPr>
          <a:xfrm>
            <a:off x="4590288" y="3986783"/>
            <a:ext cx="438912" cy="438912"/>
          </a:xfrm>
          <a:prstGeom prst="ellipse">
            <a:avLst/>
          </a:prstGeom>
          <a:solidFill>
            <a:srgbClr val="27B5B0"/>
          </a:solidFill>
          <a:ln>
            <a:solidFill>
              <a:srgbClr val="27B5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 a:ea="Microsoft YaHei" a:latin="Aptos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75504" y="3959351"/>
            <a:ext cx="6144768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1700" b="1" a:ea="Microsoft YaHei" a:latin="Aptos">
                <a:solidFill>
                  <a:srgbClr val="1F1F2D"/>
                </a:solidFill>
                <a:latin typeface="Microsoft YaHei"/>
              </a:rPr>
              <a:t>信息还有效吗？</a:t>
            </a:r>
          </a:p>
          <a:p>
            <a:pPr algn="l">
              <a:spcAft>
                <a:spcPts val="0"/>
              </a:spcAft>
            </a:pPr>
            <a:r>
              <a:rPr sz="1100" b="0" a:ea="Microsoft YaHei" a:latin="Aptos">
                <a:solidFill>
                  <a:srgbClr val="605C6F"/>
                </a:solidFill>
                <a:latin typeface="Microsoft YaHei"/>
              </a:rPr>
              <a:t>时间、状态与待确认不能被模型补写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340096"/>
            <a:ext cx="106984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1100" b="1" a:ea="Microsoft YaHei" a:latin="Aptos">
                <a:solidFill>
                  <a:srgbClr val="701FEB"/>
                </a:solidFill>
                <a:latin typeface="Microsoft YaHei"/>
              </a:rPr>
              <a:t>产品判断</a:t>
            </a:r>
          </a:p>
          <a:p>
            <a:pPr algn="l">
              <a:spcAft>
                <a:spcPts val="500"/>
              </a:spcAft>
            </a:pPr>
            <a:r>
              <a:rPr sz="1700" b="1" a:ea="Microsoft YaHei" a:latin="Aptos">
                <a:solidFill>
                  <a:srgbClr val="1F1F2D"/>
                </a:solidFill>
                <a:latin typeface="Microsoft YaHei"/>
              </a:rPr>
              <a:t>关系图只是界面；真正的价值是把记忆变成有证据、可确认的下一步行动。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47395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a:ea="Microsoft YaHei" a:latin="Aptos">
                <a:solidFill>
                  <a:srgbClr val="605C6F"/>
                </a:solidFill>
                <a:latin typeface="Microsoft YaHei"/>
              </a:rPr>
              <a:t>仅使用合成演示数据 · 不抓取社交平台 · 不自动发送消息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 a:ea="Microsoft YaHei" a:latin="Aptos">
                <a:solidFill>
                  <a:srgbClr val="701FEB"/>
                </a:solidFill>
                <a:latin typeface="Microsoft YaHei"/>
              </a:rPr>
              <a:t>02 · USERS &amp;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30936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a:ea="Microsoft YaHei" a:latin="Aptos">
                <a:solidFill>
                  <a:srgbClr val="1F1F2D"/>
                </a:solidFill>
                <a:latin typeface="Microsoft YaHei"/>
              </a:rPr>
              <a:t>服务关系密集型人群，也主动限制产品权力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a:ea="Microsoft YaHei" a:latin="Aptos">
                <a:solidFill>
                  <a:srgbClr val="605C6F"/>
                </a:solidFill>
                <a:latin typeface="Microsoft YaHei"/>
              </a:rPr>
              <a:t>先说清楚为谁做、什么绝对不做。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90504" y="292608"/>
            <a:ext cx="713232" cy="329184"/>
          </a:xfrm>
          <a:prstGeom prst="roundRect">
            <a:avLst/>
          </a:prstGeom>
          <a:solidFill>
            <a:srgbClr val="EBE0FF"/>
          </a:solidFill>
          <a:ln>
            <a:solidFill>
              <a:srgbClr val="EB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 a:ea="Microsoft YaHei" a:latin="Aptos">
                <a:solidFill>
                  <a:srgbClr val="701FEB"/>
                </a:solidFill>
                <a:latin typeface="Microsoft YaHei"/>
              </a:rPr>
              <a:t>25 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0" a:ea="Microsoft YaHei" a:latin="Aptos">
                <a:solidFill>
                  <a:srgbClr val="605C6F"/>
                </a:solidFill>
                <a:latin typeface="Microsoft YaHei"/>
              </a:rP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5230368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1500" b="1" a:ea="Microsoft YaHei" a:latin="Aptos">
                <a:solidFill>
                  <a:srgbClr val="701FEB"/>
                </a:solidFill>
                <a:latin typeface="Microsoft YaHei"/>
              </a:rPr>
              <a:t>目标用户</a:t>
            </a:r>
          </a:p>
          <a:p>
            <a:pPr algn="l">
              <a:spcAft>
                <a:spcPts val="500"/>
              </a:spcAft>
            </a:pPr>
            <a:r>
              <a:rPr sz="1900" b="1" a:ea="Microsoft YaHei" a:latin="Aptos">
                <a:solidFill>
                  <a:srgbClr val="1F1F2D"/>
                </a:solidFill>
                <a:latin typeface="Microsoft YaHei"/>
              </a:rPr>
              <a:t>学生组织者 / 社群负责人</a:t>
            </a:r>
          </a:p>
          <a:p>
            <a:pPr algn="l">
              <a:spcAft>
                <a:spcPts val="500"/>
              </a:spcAft>
            </a:pPr>
            <a:r>
              <a:rPr sz="1100" b="0" a:ea="Microsoft YaHei" a:latin="Aptos">
                <a:solidFill>
                  <a:srgbClr val="605C6F"/>
                </a:solidFill>
                <a:latin typeface="Microsoft YaHei"/>
              </a:rPr>
              <a:t>组织活动时，需要快速调用合作与技能记忆</a:t>
            </a:r>
          </a:p>
          <a:p>
            <a:pPr algn="l">
              <a:spcAft>
                <a:spcPts val="500"/>
              </a:spcAft>
            </a:pPr>
            <a:r>
              <a:rPr sz="1900" b="1" a:ea="Microsoft YaHei" a:latin="Aptos">
                <a:solidFill>
                  <a:srgbClr val="1F1F2D"/>
                </a:solidFill>
                <a:latin typeface="Microsoft YaHei"/>
              </a:rPr>
              <a:t>研究人员 / 自由职业者</a:t>
            </a:r>
          </a:p>
          <a:p>
            <a:pPr algn="l">
              <a:spcAft>
                <a:spcPts val="500"/>
              </a:spcAft>
            </a:pPr>
            <a:r>
              <a:rPr sz="1100" b="0" a:ea="Microsoft YaHei" a:latin="Aptos">
                <a:solidFill>
                  <a:srgbClr val="605C6F"/>
                </a:solidFill>
                <a:latin typeface="Microsoft YaHei"/>
              </a:rPr>
              <a:t>联系人多、合作周期长，信息容易过期</a:t>
            </a:r>
          </a:p>
          <a:p>
            <a:pPr algn="l">
              <a:spcAft>
                <a:spcPts val="500"/>
              </a:spcAft>
            </a:pPr>
            <a:r>
              <a:rPr sz="1900" b="1" a:ea="Microsoft YaHei" a:latin="Aptos">
                <a:solidFill>
                  <a:srgbClr val="1F1F2D"/>
                </a:solidFill>
                <a:latin typeface="Microsoft YaHei"/>
              </a:rPr>
              <a:t>招聘 / 销售等关系密集角色</a:t>
            </a:r>
          </a:p>
          <a:p>
            <a:pPr algn="l">
              <a:spcAft>
                <a:spcPts val="500"/>
              </a:spcAft>
            </a:pPr>
            <a:r>
              <a:rPr sz="1100" b="0" a:ea="Microsoft YaHei" a:latin="Aptos">
                <a:solidFill>
                  <a:srgbClr val="605C6F"/>
                </a:solidFill>
                <a:latin typeface="Microsoft YaHei"/>
              </a:rPr>
              <a:t>需要提醒与线索，不需要自动替人沟通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1737360"/>
            <a:ext cx="5193792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1500" b="1" a:ea="Microsoft YaHei" a:latin="Aptos">
                <a:solidFill>
                  <a:srgbClr val="F64F8B"/>
                </a:solidFill>
                <a:latin typeface="Microsoft YaHei"/>
              </a:rPr>
              <a:t>明确边界</a:t>
            </a:r>
          </a:p>
          <a:p>
            <a:pPr algn="l">
              <a:spcAft>
                <a:spcPts val="500"/>
              </a:spcAft>
            </a:pPr>
            <a:r>
              <a:rPr sz="1600" b="1" a:ea="Microsoft YaHei" a:latin="Aptos">
                <a:solidFill>
                  <a:srgbClr val="1F1F2D"/>
                </a:solidFill>
                <a:latin typeface="Microsoft YaHei"/>
              </a:rPr>
              <a:t>× 不登录、抓取或逆向读取个人社交平台</a:t>
            </a:r>
          </a:p>
          <a:p>
            <a:pPr algn="l">
              <a:spcAft>
                <a:spcPts val="500"/>
              </a:spcAft>
            </a:pPr>
            <a:r>
              <a:rPr sz="1100" b="0" a:ea="Microsoft YaHei" a:latin="Aptos">
                <a:solidFill>
                  <a:srgbClr val="605C6F"/>
                </a:solidFill>
                <a:latin typeface="Microsoft YaHei"/>
              </a:rPr>
              <a:t>只处理用户主动提供的文字、文件、图片和语音</a:t>
            </a:r>
          </a:p>
          <a:p>
            <a:pPr algn="l">
              <a:spcAft>
                <a:spcPts val="500"/>
              </a:spcAft>
            </a:pPr>
            <a:r>
              <a:rPr sz="1600" b="1" a:ea="Microsoft YaHei" a:latin="Aptos">
                <a:solidFill>
                  <a:srgbClr val="1F1F2D"/>
                </a:solidFill>
                <a:latin typeface="Microsoft YaHei"/>
              </a:rPr>
              <a:t>× 不自动发送消息或修改好友状态</a:t>
            </a:r>
          </a:p>
          <a:p>
            <a:pPr algn="l">
              <a:spcAft>
                <a:spcPts val="500"/>
              </a:spcAft>
            </a:pPr>
            <a:r>
              <a:rPr sz="1100" b="0" a:ea="Microsoft YaHei" a:latin="Aptos">
                <a:solidFill>
                  <a:srgbClr val="605C6F"/>
                </a:solidFill>
                <a:latin typeface="Microsoft YaHei"/>
              </a:rPr>
              <a:t>话术只能编辑、复制，由用户决定是否发送</a:t>
            </a:r>
          </a:p>
          <a:p>
            <a:pPr algn="l">
              <a:spcAft>
                <a:spcPts val="500"/>
              </a:spcAft>
            </a:pPr>
            <a:r>
              <a:rPr sz="1600" b="1" a:ea="Microsoft YaHei" a:latin="Aptos">
                <a:solidFill>
                  <a:srgbClr val="1F1F2D"/>
                </a:solidFill>
                <a:latin typeface="Microsoft YaHei"/>
              </a:rPr>
              <a:t>× 不把模型推断当作事实</a:t>
            </a:r>
          </a:p>
          <a:p>
            <a:pPr algn="l">
              <a:spcAft>
                <a:spcPts val="500"/>
              </a:spcAft>
            </a:pPr>
            <a:r>
              <a:rPr sz="1100" b="0" a:ea="Microsoft YaHei" a:latin="Aptos">
                <a:solidFill>
                  <a:srgbClr val="605C6F"/>
                </a:solidFill>
                <a:latin typeface="Microsoft YaHei"/>
              </a:rPr>
              <a:t>AI 输出先进入草稿，仍有待确认就不能入库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90672" y="5641848"/>
            <a:ext cx="6016752" cy="329184"/>
          </a:xfrm>
          <a:prstGeom prst="roundRect">
            <a:avLst/>
          </a:prstGeom>
          <a:solidFill>
            <a:srgbClr val="161423"/>
          </a:solidFill>
          <a:ln>
            <a:solidFill>
              <a:srgbClr val="16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300" b="1" a:ea="Microsoft YaHei" a:latin="Aptos">
                <a:solidFill>
                  <a:srgbClr val="FFFFFF"/>
                </a:solidFill>
                <a:latin typeface="Microsoft YaHei"/>
              </a:rPr>
              <a:t>隐私不是页脚文案，而是产品流程中的权限边界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647395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a:ea="Microsoft YaHei" a:latin="Aptos">
                <a:solidFill>
                  <a:srgbClr val="605C6F"/>
                </a:solidFill>
                <a:latin typeface="Microsoft YaHei"/>
              </a:rPr>
              <a:t>仅使用合成演示数据 · 不抓取社交平台 · 不自动发送消息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 a:ea="Microsoft YaHei" a:latin="Aptos">
                <a:solidFill>
                  <a:srgbClr val="701FEB"/>
                </a:solidFill>
                <a:latin typeface="Microsoft YaHei"/>
              </a:rPr>
              <a:t>03 · PRODUCT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30936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a:ea="Microsoft YaHei" a:latin="Aptos">
                <a:solidFill>
                  <a:srgbClr val="1F1F2D"/>
                </a:solidFill>
                <a:latin typeface="Microsoft YaHei"/>
              </a:rPr>
              <a:t>四步闭环：从主动材料到可解释行动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a:ea="Microsoft YaHei" a:latin="Aptos">
                <a:solidFill>
                  <a:srgbClr val="605C6F"/>
                </a:solidFill>
                <a:latin typeface="Microsoft YaHei"/>
              </a:rPr>
              <a:t>每一步都保留用户控制权。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90504" y="292608"/>
            <a:ext cx="713232" cy="329184"/>
          </a:xfrm>
          <a:prstGeom prst="roundRect">
            <a:avLst/>
          </a:prstGeom>
          <a:solidFill>
            <a:srgbClr val="EBE0FF"/>
          </a:solidFill>
          <a:ln>
            <a:solidFill>
              <a:srgbClr val="EB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 a:ea="Microsoft YaHei" a:latin="Aptos">
                <a:solidFill>
                  <a:srgbClr val="701FEB"/>
                </a:solidFill>
                <a:latin typeface="Microsoft YaHei"/>
              </a:rPr>
              <a:t>35 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0" a:ea="Microsoft YaHei" a:latin="Aptos">
                <a:solidFill>
                  <a:srgbClr val="605C6F"/>
                </a:solidFill>
                <a:latin typeface="Microsoft YaHei"/>
              </a:rP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47088"/>
            <a:ext cx="2414016" cy="2423160"/>
          </a:xfrm>
          <a:prstGeom prst="roundRect">
            <a:avLst/>
          </a:prstGeom>
          <a:solidFill>
            <a:srgbClr val="EBE0FF"/>
          </a:solidFill>
          <a:ln w="12700">
            <a:solidFill>
              <a:srgbClr val="EB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2800" b="1" a:ea="Microsoft YaHei" a:latin="Aptos">
                <a:solidFill>
                  <a:srgbClr val="701FEB"/>
                </a:solidFill>
                <a:latin typeface="Microsoft YaHei"/>
              </a:rPr>
              <a:t>1</a:t>
            </a:r>
          </a:p>
          <a:p>
            <a:pPr algn="l">
              <a:spcAft>
                <a:spcPts val="500"/>
              </a:spcAft>
            </a:pPr>
            <a:r>
              <a:rPr sz="1800" b="1" a:ea="Microsoft YaHei" a:latin="Aptos">
                <a:solidFill>
                  <a:srgbClr val="1F1F2D"/>
                </a:solidFill>
                <a:latin typeface="Microsoft YaHei"/>
              </a:rPr>
              <a:t>低摩擦录入</a:t>
            </a:r>
          </a:p>
          <a:p>
            <a:pPr algn="l">
              <a:spcAft>
                <a:spcPts val="500"/>
              </a:spcAft>
            </a:pPr>
            <a:r>
              <a:rPr sz="1200" b="0" a:ea="Microsoft YaHei" a:latin="Aptos">
                <a:solidFill>
                  <a:srgbClr val="605C6F"/>
                </a:solidFill>
                <a:latin typeface="Microsoft YaHei"/>
              </a:rPr>
              <a:t>文字 / 文件 / 截图 / 语音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81528" y="3054096"/>
            <a:ext cx="301752" cy="0"/>
          </a:xfrm>
          <a:prstGeom prst="line">
            <a:avLst/>
          </a:prstGeom>
          <a:ln w="25400">
            <a:solidFill>
              <a:srgbClr val="701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29000" y="1847088"/>
            <a:ext cx="2414016" cy="2423160"/>
          </a:xfrm>
          <a:prstGeom prst="roundRect">
            <a:avLst/>
          </a:prstGeom>
          <a:solidFill>
            <a:srgbClr val="FFE5EF"/>
          </a:solidFill>
          <a:ln w="12700">
            <a:solidFill>
              <a:srgbClr val="F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2800" b="1" a:ea="Microsoft YaHei" a:latin="Aptos">
                <a:solidFill>
                  <a:srgbClr val="F64F8B"/>
                </a:solidFill>
                <a:latin typeface="Microsoft YaHei"/>
              </a:rPr>
              <a:t>2</a:t>
            </a:r>
          </a:p>
          <a:p>
            <a:pPr algn="l">
              <a:spcAft>
                <a:spcPts val="500"/>
              </a:spcAft>
            </a:pPr>
            <a:r>
              <a:rPr sz="1800" b="1" a:ea="Microsoft YaHei" a:latin="Aptos">
                <a:solidFill>
                  <a:srgbClr val="1F1F2D"/>
                </a:solidFill>
                <a:latin typeface="Microsoft YaHei"/>
              </a:rPr>
              <a:t>证据门禁 + 复核</a:t>
            </a:r>
          </a:p>
          <a:p>
            <a:pPr algn="l">
              <a:spcAft>
                <a:spcPts val="500"/>
              </a:spcAft>
            </a:pPr>
            <a:r>
              <a:rPr sz="1200" b="0" a:ea="Microsoft YaHei" a:latin="Aptos">
                <a:solidFill>
                  <a:srgbClr val="605C6F"/>
                </a:solidFill>
                <a:latin typeface="Microsoft YaHei"/>
              </a:rPr>
              <a:t>清空无证据值；逐项接受或拒绝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70448" y="3054096"/>
            <a:ext cx="301752" cy="0"/>
          </a:xfrm>
          <a:prstGeom prst="line">
            <a:avLst/>
          </a:prstGeom>
          <a:ln w="25400">
            <a:solidFill>
              <a:srgbClr val="F64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217920" y="1847088"/>
            <a:ext cx="2414016" cy="2423160"/>
          </a:xfrm>
          <a:prstGeom prst="roundRect">
            <a:avLst/>
          </a:prstGeom>
          <a:solidFill>
            <a:srgbClr val="DDF6F1"/>
          </a:solidFill>
          <a:ln w="12700">
            <a:solidFill>
              <a:srgbClr val="DD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2800" b="1" a:ea="Microsoft YaHei" a:latin="Aptos">
                <a:solidFill>
                  <a:srgbClr val="27B5B0"/>
                </a:solidFill>
                <a:latin typeface="Microsoft YaHei"/>
              </a:rPr>
              <a:t>3</a:t>
            </a:r>
          </a:p>
          <a:p>
            <a:pPr algn="l">
              <a:spcAft>
                <a:spcPts val="500"/>
              </a:spcAft>
            </a:pPr>
            <a:r>
              <a:rPr sz="1800" b="1" a:ea="Microsoft YaHei" a:latin="Aptos">
                <a:solidFill>
                  <a:srgbClr val="1F1F2D"/>
                </a:solidFill>
                <a:latin typeface="Microsoft YaHei"/>
              </a:rPr>
              <a:t>本地关系记忆</a:t>
            </a:r>
          </a:p>
          <a:p>
            <a:pPr algn="l">
              <a:spcAft>
                <a:spcPts val="500"/>
              </a:spcAft>
            </a:pPr>
            <a:r>
              <a:rPr sz="1200" b="0" a:ea="Microsoft YaHei" a:latin="Aptos">
                <a:solidFill>
                  <a:srgbClr val="605C6F"/>
                </a:solidFill>
                <a:latin typeface="Microsoft YaHei"/>
              </a:rPr>
              <a:t>人物 / 身份 / 关系 / 事件 / 提醒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659367" y="3054096"/>
            <a:ext cx="301753" cy="0"/>
          </a:xfrm>
          <a:prstGeom prst="line">
            <a:avLst/>
          </a:prstGeom>
          <a:ln w="25400">
            <a:solidFill>
              <a:srgbClr val="27B5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006839" y="1847088"/>
            <a:ext cx="2414016" cy="2423160"/>
          </a:xfrm>
          <a:prstGeom prst="roundRect">
            <a:avLst/>
          </a:prstGeom>
          <a:solidFill>
            <a:srgbClr val="F2EFF7"/>
          </a:solidFill>
          <a:ln w="12700">
            <a:solidFill>
              <a:srgbClr val="F2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2800" b="1" a:ea="Microsoft YaHei" a:latin="Aptos">
                <a:solidFill>
                  <a:srgbClr val="1F1F2D"/>
                </a:solidFill>
                <a:latin typeface="Microsoft YaHei"/>
              </a:rPr>
              <a:t>4</a:t>
            </a:r>
          </a:p>
          <a:p>
            <a:pPr algn="l">
              <a:spcAft>
                <a:spcPts val="500"/>
              </a:spcAft>
            </a:pPr>
            <a:r>
              <a:rPr sz="1800" b="1" a:ea="Microsoft YaHei" a:latin="Aptos">
                <a:solidFill>
                  <a:srgbClr val="1F1F2D"/>
                </a:solidFill>
                <a:latin typeface="Microsoft YaHei"/>
              </a:rPr>
              <a:t>行动建议</a:t>
            </a:r>
          </a:p>
          <a:p>
            <a:pPr algn="l">
              <a:spcAft>
                <a:spcPts val="500"/>
              </a:spcAft>
            </a:pPr>
            <a:r>
              <a:rPr sz="1200" b="0" a:ea="Microsoft YaHei" a:latin="Aptos">
                <a:solidFill>
                  <a:srgbClr val="605C6F"/>
                </a:solidFill>
                <a:latin typeface="Microsoft YaHei"/>
              </a:rPr>
              <a:t>确定性 Top 3 + 可编辑 AI 解释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36592"/>
            <a:ext cx="1078992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1300" b="1" a:ea="Microsoft YaHei" a:latin="Aptos">
                <a:solidFill>
                  <a:srgbClr val="701FEB"/>
                </a:solidFill>
                <a:latin typeface="Microsoft YaHei"/>
              </a:rPr>
              <a:t>外部模型不可用时仍可演示</a:t>
            </a:r>
          </a:p>
          <a:p>
            <a:pPr algn="l">
              <a:spcAft>
                <a:spcPts val="500"/>
              </a:spcAft>
            </a:pPr>
            <a:r>
              <a:rPr sz="1500" b="1" a:ea="Microsoft YaHei" a:latin="Aptos">
                <a:solidFill>
                  <a:srgbClr val="1F1F2D"/>
                </a:solidFill>
                <a:latin typeface="Microsoft YaHei"/>
              </a:rPr>
              <a:t>IndexedDB 本地资料、关系图、日期提醒与候选排序继续工作；AI 只负责可选的比较说明和话术润色。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647395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a:ea="Microsoft YaHei" a:latin="Aptos">
                <a:solidFill>
                  <a:srgbClr val="605C6F"/>
                </a:solidFill>
                <a:latin typeface="Microsoft YaHei"/>
              </a:rPr>
              <a:t>仅使用合成演示数据 · 不抓取社交平台 · 不自动发送消息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 a:ea="Microsoft YaHei" a:latin="Aptos">
                <a:solidFill>
                  <a:srgbClr val="701FEB"/>
                </a:solidFill>
                <a:latin typeface="Microsoft YaHei"/>
              </a:rPr>
              <a:t>04 ·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30936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a:ea="Microsoft YaHei" a:latin="Aptos">
                <a:solidFill>
                  <a:srgbClr val="1F1F2D"/>
                </a:solidFill>
                <a:latin typeface="Microsoft YaHei"/>
              </a:rPr>
              <a:t>一条合成故事，连续验证三个场景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a:ea="Microsoft YaHei" a:latin="Aptos">
                <a:solidFill>
                  <a:srgbClr val="605C6F"/>
                </a:solidFill>
                <a:latin typeface="Microsoft YaHei"/>
              </a:rPr>
              <a:t>固定故事：筹备“校园记忆展”；所有人物与数据均为虚构。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90504" y="292608"/>
            <a:ext cx="713232" cy="329184"/>
          </a:xfrm>
          <a:prstGeom prst="roundRect">
            <a:avLst/>
          </a:prstGeom>
          <a:solidFill>
            <a:srgbClr val="EBE0FF"/>
          </a:solidFill>
          <a:ln>
            <a:solidFill>
              <a:srgbClr val="EB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 a:ea="Microsoft YaHei" a:latin="Aptos">
                <a:solidFill>
                  <a:srgbClr val="701FEB"/>
                </a:solidFill>
                <a:latin typeface="Microsoft YaHei"/>
              </a:rPr>
              <a:t>95 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0" a:ea="Microsoft YaHei" a:latin="Aptos">
                <a:solidFill>
                  <a:srgbClr val="605C6F"/>
                </a:solidFill>
                <a:latin typeface="Microsoft YaHei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291840" cy="3520440"/>
          </a:xfrm>
          <a:prstGeom prst="roundRect">
            <a:avLst/>
          </a:prstGeom>
          <a:solidFill>
            <a:srgbClr val="EBE0FF"/>
          </a:solidFill>
          <a:ln w="12700">
            <a:solidFill>
              <a:srgbClr val="EB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1200" b="1" a:ea="Microsoft YaHei" a:latin="Aptos">
                <a:solidFill>
                  <a:srgbClr val="701FEB"/>
                </a:solidFill>
                <a:latin typeface="Microsoft YaHei"/>
              </a:rPr>
              <a:t>场景 A</a:t>
            </a:r>
          </a:p>
          <a:p>
            <a:pPr algn="l">
              <a:spcAft>
                <a:spcPts val="500"/>
              </a:spcAft>
            </a:pPr>
            <a:r>
              <a:rPr sz="2200" b="1" a:ea="Microsoft YaHei" a:latin="Aptos">
                <a:solidFill>
                  <a:srgbClr val="1F1F2D"/>
                </a:solidFill>
                <a:latin typeface="Microsoft YaHei"/>
              </a:rPr>
              <a:t>录入与确认</a:t>
            </a:r>
          </a:p>
          <a:p>
            <a:pPr algn="l">
              <a:spcAft>
                <a:spcPts val="800"/>
              </a:spcAft>
            </a:pPr>
            <a:r>
              <a:rPr sz="1300" b="0" a:ea="Microsoft YaHei" a:latin="Aptos">
                <a:solidFill>
                  <a:srgbClr val="1F1F2D"/>
                </a:solidFill>
                <a:latin typeface="Microsoft YaHei"/>
              </a:rPr>
              <a:t>粘贴材料 → AI 草稿
编辑一项、拒绝一项
身份历史与关系入库</a:t>
            </a:r>
          </a:p>
          <a:p>
            <a:pPr algn="l">
              <a:spcAft>
                <a:spcPts val="500"/>
              </a:spcAft>
            </a:pPr>
            <a:r>
              <a:rPr sz="1100" b="1" a:ea="Microsoft YaHei" a:latin="Aptos">
                <a:solidFill>
                  <a:srgbClr val="701FEB"/>
                </a:solidFill>
                <a:latin typeface="Microsoft YaHei"/>
              </a:rPr>
              <a:t>45 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15968" y="1783080"/>
            <a:ext cx="3291840" cy="3520440"/>
          </a:xfrm>
          <a:prstGeom prst="roundRect">
            <a:avLst/>
          </a:prstGeom>
          <a:solidFill>
            <a:srgbClr val="FFE5EF"/>
          </a:solidFill>
          <a:ln w="12700">
            <a:solidFill>
              <a:srgbClr val="F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1200" b="1" a:ea="Microsoft YaHei" a:latin="Aptos">
                <a:solidFill>
                  <a:srgbClr val="F64F8B"/>
                </a:solidFill>
                <a:latin typeface="Microsoft YaHei"/>
              </a:rPr>
              <a:t>场景 B</a:t>
            </a:r>
          </a:p>
          <a:p>
            <a:pPr algn="l">
              <a:spcAft>
                <a:spcPts val="500"/>
              </a:spcAft>
            </a:pPr>
            <a:r>
              <a:rPr sz="2200" b="1" a:ea="Microsoft YaHei" a:latin="Aptos">
                <a:solidFill>
                  <a:srgbClr val="1F1F2D"/>
                </a:solidFill>
                <a:latin typeface="Microsoft YaHei"/>
              </a:rPr>
              <a:t>这事找谁</a:t>
            </a:r>
          </a:p>
          <a:p>
            <a:pPr algn="l">
              <a:spcAft>
                <a:spcPts val="800"/>
              </a:spcAft>
            </a:pPr>
            <a:r>
              <a:rPr sz="1300" b="0" a:ea="Microsoft YaHei" a:latin="Aptos">
                <a:solidFill>
                  <a:srgbClr val="1F1F2D"/>
                </a:solidFill>
                <a:latin typeface="Microsoft YaHei"/>
              </a:rPr>
              <a:t>先本地稳定召回 Top 3
展示证据、时间与风险
再生成比较与求助话术</a:t>
            </a:r>
          </a:p>
          <a:p>
            <a:pPr algn="l">
              <a:spcAft>
                <a:spcPts val="500"/>
              </a:spcAft>
            </a:pPr>
            <a:r>
              <a:rPr sz="1100" b="1" a:ea="Microsoft YaHei" a:latin="Aptos">
                <a:solidFill>
                  <a:srgbClr val="F64F8B"/>
                </a:solidFill>
                <a:latin typeface="Microsoft YaHei"/>
              </a:rPr>
              <a:t>30 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91855" y="1783080"/>
            <a:ext cx="3291840" cy="3520440"/>
          </a:xfrm>
          <a:prstGeom prst="roundRect">
            <a:avLst/>
          </a:prstGeom>
          <a:solidFill>
            <a:srgbClr val="DDF6F1"/>
          </a:solidFill>
          <a:ln w="12700">
            <a:solidFill>
              <a:srgbClr val="DD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1200" b="1" a:ea="Microsoft YaHei" a:latin="Aptos">
                <a:solidFill>
                  <a:srgbClr val="27B5B0"/>
                </a:solidFill>
                <a:latin typeface="Microsoft YaHei"/>
              </a:rPr>
              <a:t>场景 C</a:t>
            </a:r>
          </a:p>
          <a:p>
            <a:pPr algn="l">
              <a:spcAft>
                <a:spcPts val="500"/>
              </a:spcAft>
            </a:pPr>
            <a:r>
              <a:rPr sz="2200" b="1" a:ea="Microsoft YaHei" a:latin="Aptos">
                <a:solidFill>
                  <a:srgbClr val="1F1F2D"/>
                </a:solidFill>
                <a:latin typeface="Microsoft YaHei"/>
              </a:rPr>
              <a:t>提醒与维护</a:t>
            </a:r>
          </a:p>
          <a:p>
            <a:pPr algn="l">
              <a:spcAft>
                <a:spcPts val="800"/>
              </a:spcAft>
            </a:pPr>
            <a:r>
              <a:rPr sz="1300" b="0" a:ea="Microsoft YaHei" a:latin="Aptos">
                <a:solidFill>
                  <a:srgbClr val="1F1F2D"/>
                </a:solidFill>
                <a:latin typeface="Microsoft YaHei"/>
              </a:rPr>
              <a:t>生日 / 节日 / 长期未联系
资料不足时明确提示缺口
日历回看共同事件</a:t>
            </a:r>
          </a:p>
          <a:p>
            <a:pPr algn="l">
              <a:spcAft>
                <a:spcPts val="500"/>
              </a:spcAft>
            </a:pPr>
            <a:r>
              <a:rPr sz="1100" b="1" a:ea="Microsoft YaHei" a:latin="Aptos">
                <a:solidFill>
                  <a:srgbClr val="27B5B0"/>
                </a:solidFill>
                <a:latin typeface="Microsoft YaHei"/>
              </a:rPr>
              <a:t>20 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2" y="5632704"/>
            <a:ext cx="6400800" cy="329184"/>
          </a:xfrm>
          <a:prstGeom prst="roundRect">
            <a:avLst/>
          </a:prstGeom>
          <a:solidFill>
            <a:srgbClr val="161423"/>
          </a:solidFill>
          <a:ln>
            <a:solidFill>
              <a:srgbClr val="16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 a:ea="Microsoft YaHei" a:latin="Aptos">
                <a:solidFill>
                  <a:srgbClr val="FFFFFF"/>
                </a:solidFill>
                <a:latin typeface="Microsoft YaHei"/>
              </a:rPr>
              <a:t>演示原则：先展示本地确定结果，再触发可选 AI；全程不外发消息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47395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a:ea="Microsoft YaHei" a:latin="Aptos">
                <a:solidFill>
                  <a:srgbClr val="605C6F"/>
                </a:solidFill>
                <a:latin typeface="Microsoft YaHei"/>
              </a:rPr>
              <a:t>仅使用合成演示数据 · 不抓取社交平台 · 不自动发送消息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 a:ea="Microsoft YaHei" a:latin="Aptos">
                <a:solidFill>
                  <a:srgbClr val="701FEB"/>
                </a:solidFill>
                <a:latin typeface="Microsoft YaHei"/>
              </a:rPr>
              <a:t>05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30936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a:ea="Microsoft YaHei" a:latin="Aptos">
                <a:solidFill>
                  <a:srgbClr val="1F1F2D"/>
                </a:solidFill>
                <a:latin typeface="Microsoft YaHei"/>
              </a:rPr>
              <a:t>难点不在调用模型，而在可验证的数据契约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a:ea="Microsoft YaHei" a:latin="Aptos">
                <a:solidFill>
                  <a:srgbClr val="605C6F"/>
                </a:solidFill>
                <a:latin typeface="Microsoft YaHei"/>
              </a:rPr>
              <a:t>React/TanStack + IndexedDB；AI 路由是受限的可选能力。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90504" y="292608"/>
            <a:ext cx="713232" cy="329184"/>
          </a:xfrm>
          <a:prstGeom prst="roundRect">
            <a:avLst/>
          </a:prstGeom>
          <a:solidFill>
            <a:srgbClr val="EBE0FF"/>
          </a:solidFill>
          <a:ln>
            <a:solidFill>
              <a:srgbClr val="EB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 a:ea="Microsoft YaHei" a:latin="Aptos">
                <a:solidFill>
                  <a:srgbClr val="701FEB"/>
                </a:solidFill>
                <a:latin typeface="Microsoft YaHei"/>
              </a:rPr>
              <a:t>35 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0" a:ea="Microsoft YaHei" a:latin="Aptos">
                <a:solidFill>
                  <a:srgbClr val="605C6F"/>
                </a:solidFill>
                <a:latin typeface="Microsoft YaHei"/>
              </a:rP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6629400" cy="713232"/>
          </a:xfrm>
          <a:prstGeom prst="roundRect">
            <a:avLst/>
          </a:prstGeom>
          <a:solidFill>
            <a:srgbClr val="EBE0FF"/>
          </a:solidFill>
          <a:ln w="12700">
            <a:solidFill>
              <a:srgbClr val="EB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1400" b="1" a:ea="Microsoft YaHei" a:latin="Aptos">
                <a:solidFill>
                  <a:srgbClr val="701FEB"/>
                </a:solidFill>
                <a:latin typeface="Microsoft YaHei"/>
              </a:rPr>
              <a:t>输入层</a:t>
            </a:r>
          </a:p>
          <a:p>
            <a:pPr algn="l">
              <a:spcAft>
                <a:spcPts val="500"/>
              </a:spcAft>
            </a:pPr>
            <a:r>
              <a:rPr sz="1200" b="0" a:ea="Microsoft YaHei" a:latin="Aptos">
                <a:solidFill>
                  <a:srgbClr val="1F1F2D"/>
                </a:solidFill>
                <a:latin typeface="Microsoft YaHei"/>
              </a:rPr>
              <a:t>文字 · 文件 · 图片 · 语音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59352" y="2423160"/>
            <a:ext cx="0" cy="192024"/>
          </a:xfrm>
          <a:prstGeom prst="line">
            <a:avLst/>
          </a:prstGeom>
          <a:ln w="19050">
            <a:solidFill>
              <a:srgbClr val="701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58368" y="2642616"/>
            <a:ext cx="6629400" cy="713232"/>
          </a:xfrm>
          <a:prstGeom prst="roundRect">
            <a:avLst/>
          </a:prstGeom>
          <a:solidFill>
            <a:srgbClr val="FFE5EF"/>
          </a:solidFill>
          <a:ln w="12700">
            <a:solidFill>
              <a:srgbClr val="F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1400" b="1" a:ea="Microsoft YaHei" a:latin="Aptos">
                <a:solidFill>
                  <a:srgbClr val="F64F8B"/>
                </a:solidFill>
                <a:latin typeface="Microsoft YaHei"/>
              </a:rPr>
              <a:t>复核层</a:t>
            </a:r>
          </a:p>
          <a:p>
            <a:pPr algn="l">
              <a:spcAft>
                <a:spcPts val="500"/>
              </a:spcAft>
            </a:pPr>
            <a:r>
              <a:rPr sz="1200" b="0" a:ea="Microsoft YaHei" a:latin="Aptos">
                <a:solidFill>
                  <a:srgbClr val="1F1F2D"/>
                </a:solidFill>
                <a:latin typeface="Microsoft YaHei"/>
              </a:rPr>
              <a:t>Schema · 主体分段 · 正向绑定 · 否定拦截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59352" y="3374136"/>
            <a:ext cx="0" cy="192024"/>
          </a:xfrm>
          <a:prstGeom prst="line">
            <a:avLst/>
          </a:prstGeom>
          <a:ln w="19050">
            <a:solidFill>
              <a:srgbClr val="F64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58368" y="3593592"/>
            <a:ext cx="6629400" cy="713232"/>
          </a:xfrm>
          <a:prstGeom prst="roundRect">
            <a:avLst/>
          </a:prstGeom>
          <a:solidFill>
            <a:srgbClr val="DDF6F1"/>
          </a:solidFill>
          <a:ln w="12700">
            <a:solidFill>
              <a:srgbClr val="DD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1400" b="1" a:ea="Microsoft YaHei" a:latin="Aptos">
                <a:solidFill>
                  <a:srgbClr val="27B5B0"/>
                </a:solidFill>
                <a:latin typeface="Microsoft YaHei"/>
              </a:rPr>
              <a:t>本地数据层</a:t>
            </a:r>
          </a:p>
          <a:p>
            <a:pPr algn="l">
              <a:spcAft>
                <a:spcPts val="500"/>
              </a:spcAft>
            </a:pPr>
            <a:r>
              <a:rPr sz="1200" b="0" a:ea="Microsoft YaHei" a:latin="Aptos">
                <a:solidFill>
                  <a:srgbClr val="1F1F2D"/>
                </a:solidFill>
                <a:latin typeface="Microsoft YaHei"/>
              </a:rPr>
              <a:t>Person · Identity · Relation · Event · Fact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59352" y="4325112"/>
            <a:ext cx="0" cy="192024"/>
          </a:xfrm>
          <a:prstGeom prst="line">
            <a:avLst/>
          </a:prstGeom>
          <a:ln w="19050">
            <a:solidFill>
              <a:srgbClr val="27B5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8368" y="4544568"/>
            <a:ext cx="6629400" cy="713232"/>
          </a:xfrm>
          <a:prstGeom prst="roundRect">
            <a:avLst/>
          </a:prstGeom>
          <a:solidFill>
            <a:srgbClr val="F2EFF7"/>
          </a:solidFill>
          <a:ln w="12700">
            <a:solidFill>
              <a:srgbClr val="F2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1400" b="1" a:ea="Microsoft YaHei" a:latin="Aptos">
                <a:solidFill>
                  <a:srgbClr val="1F1F2D"/>
                </a:solidFill>
                <a:latin typeface="Microsoft YaHei"/>
              </a:rPr>
              <a:t>行动层</a:t>
            </a:r>
          </a:p>
          <a:p>
            <a:pPr algn="l">
              <a:spcAft>
                <a:spcPts val="500"/>
              </a:spcAft>
            </a:pPr>
            <a:r>
              <a:rPr sz="1200" b="0" a:ea="Microsoft YaHei" a:latin="Aptos">
                <a:solidFill>
                  <a:srgbClr val="1F1F2D"/>
                </a:solidFill>
                <a:latin typeface="Microsoft YaHei"/>
              </a:rPr>
              <a:t>局部图谱 · 提醒 · Top 3 · 风险解释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700784"/>
            <a:ext cx="3675887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1600" b="1" a:ea="Microsoft YaHei" a:latin="Aptos">
                <a:solidFill>
                  <a:srgbClr val="701FEB"/>
                </a:solidFill>
                <a:latin typeface="Microsoft YaHei"/>
              </a:rPr>
              <a:t>可选 AI 通道</a:t>
            </a:r>
          </a:p>
          <a:p>
            <a:pPr algn="l">
              <a:spcAft>
                <a:spcPts val="500"/>
              </a:spcAft>
            </a:pPr>
            <a:r>
              <a:rPr sz="1200" b="0" a:ea="Microsoft YaHei" a:latin="Aptos">
                <a:solidFill>
                  <a:srgbClr val="1F1F2D"/>
                </a:solidFill>
                <a:latin typeface="Microsoft YaHei"/>
              </a:rPr>
              <a:t>首次按服务商与数据类型确认</a:t>
            </a:r>
          </a:p>
          <a:p>
            <a:pPr algn="l">
              <a:spcAft>
                <a:spcPts val="500"/>
              </a:spcAft>
            </a:pPr>
            <a:r>
              <a:rPr sz="1200" b="0" a:ea="Microsoft YaHei" a:latin="Aptos">
                <a:solidFill>
                  <a:srgbClr val="1F1F2D"/>
                </a:solidFill>
                <a:latin typeface="Microsoft YaHei"/>
              </a:rPr>
              <a:t>只发送当前任务所需内容</a:t>
            </a:r>
          </a:p>
          <a:p>
            <a:pPr algn="l">
              <a:spcAft>
                <a:spcPts val="500"/>
              </a:spcAft>
            </a:pPr>
            <a:r>
              <a:rPr sz="1200" b="0" a:ea="Microsoft YaHei" a:latin="Aptos">
                <a:solidFill>
                  <a:srgbClr val="1F1F2D"/>
                </a:solidFill>
                <a:latin typeface="Microsoft YaHei"/>
              </a:rPr>
              <a:t>AI 不改变本地候选排序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3822191"/>
            <a:ext cx="3675887" cy="16824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1600" b="1" a:ea="Microsoft YaHei" a:latin="Aptos">
                <a:solidFill>
                  <a:srgbClr val="F64F8B"/>
                </a:solidFill>
                <a:latin typeface="Microsoft YaHei"/>
              </a:rPr>
              <a:t>公网路由最小防护</a:t>
            </a:r>
          </a:p>
          <a:p>
            <a:pPr algn="l">
              <a:spcAft>
                <a:spcPts val="500"/>
              </a:spcAft>
            </a:pPr>
            <a:r>
              <a:rPr sz="1200" b="0" a:ea="Microsoft YaHei" a:latin="Aptos">
                <a:solidFill>
                  <a:srgbClr val="1F1F2D"/>
                </a:solidFill>
                <a:latin typeface="Microsoft YaHei"/>
              </a:rPr>
              <a:t>会话握手 · 限速 · 大小限制</a:t>
            </a:r>
          </a:p>
          <a:p>
            <a:pPr algn="l">
              <a:spcAft>
                <a:spcPts val="500"/>
              </a:spcAft>
            </a:pPr>
            <a:r>
              <a:rPr sz="1200" b="0" a:ea="Microsoft YaHei" a:latin="Aptos">
                <a:solidFill>
                  <a:srgbClr val="1F1F2D"/>
                </a:solidFill>
                <a:latin typeface="Microsoft YaHei"/>
              </a:rPr>
              <a:t>超时 · SSRF · no-store · 安全错误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647395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a:ea="Microsoft YaHei" a:latin="Aptos">
                <a:solidFill>
                  <a:srgbClr val="605C6F"/>
                </a:solidFill>
                <a:latin typeface="Microsoft YaHei"/>
              </a:rPr>
              <a:t>仅使用合成演示数据 · 不抓取社交平台 · 不自动发送消息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 a:ea="Microsoft YaHei" a:latin="Aptos">
                <a:solidFill>
                  <a:srgbClr val="701FEB"/>
                </a:solidFill>
                <a:latin typeface="Microsoft YaHei"/>
              </a:rPr>
              <a:t>06 · 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30936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a:ea="Microsoft YaHei" a:latin="Aptos">
                <a:solidFill>
                  <a:srgbClr val="1F1F2D"/>
                </a:solidFill>
                <a:latin typeface="Microsoft YaHei"/>
              </a:rPr>
              <a:t>四项差异化，共同服务“可信行动”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a:ea="Microsoft YaHei" a:latin="Aptos">
                <a:solidFill>
                  <a:srgbClr val="605C6F"/>
                </a:solidFill>
                <a:latin typeface="Microsoft YaHei"/>
              </a:rPr>
              <a:t>不是更会猜，而是更清楚何时不能猜。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90504" y="292608"/>
            <a:ext cx="713232" cy="329184"/>
          </a:xfrm>
          <a:prstGeom prst="roundRect">
            <a:avLst/>
          </a:prstGeom>
          <a:solidFill>
            <a:srgbClr val="EBE0FF"/>
          </a:solidFill>
          <a:ln>
            <a:solidFill>
              <a:srgbClr val="EB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 a:ea="Microsoft YaHei" a:latin="Aptos">
                <a:solidFill>
                  <a:srgbClr val="701FEB"/>
                </a:solidFill>
                <a:latin typeface="Microsoft YaHei"/>
              </a:rPr>
              <a:t>30 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0" a:ea="Microsoft YaHei" a:latin="Aptos">
                <a:solidFill>
                  <a:srgbClr val="605C6F"/>
                </a:solidFill>
                <a:latin typeface="Microsoft YaHei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19072"/>
            <a:ext cx="5193792" cy="1673352"/>
          </a:xfrm>
          <a:prstGeom prst="roundRect">
            <a:avLst/>
          </a:prstGeom>
          <a:solidFill>
            <a:srgbClr val="EBE0FF"/>
          </a:solidFill>
          <a:ln w="12700">
            <a:solidFill>
              <a:srgbClr val="EB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1200" b="1" a:ea="Microsoft YaHei" a:latin="Aptos">
                <a:solidFill>
                  <a:srgbClr val="701FEB"/>
                </a:solidFill>
                <a:latin typeface="Microsoft YaHei"/>
              </a:rPr>
              <a:t>01</a:t>
            </a:r>
          </a:p>
          <a:p>
            <a:pPr algn="l">
              <a:spcAft>
                <a:spcPts val="500"/>
              </a:spcAft>
            </a:pPr>
            <a:r>
              <a:rPr sz="2000" b="1" a:ea="Microsoft YaHei" a:latin="Aptos">
                <a:solidFill>
                  <a:srgbClr val="1F1F2D"/>
                </a:solidFill>
                <a:latin typeface="Microsoft YaHei"/>
              </a:rPr>
              <a:t>身份是历史</a:t>
            </a:r>
          </a:p>
          <a:p>
            <a:pPr algn="l">
              <a:spcAft>
                <a:spcPts val="500"/>
              </a:spcAft>
            </a:pPr>
            <a:r>
              <a:rPr sz="1200" b="0" a:ea="Microsoft YaHei" a:latin="Aptos">
                <a:solidFill>
                  <a:srgbClr val="605C6F"/>
                </a:solidFill>
                <a:latin typeface="Microsoft YaHei"/>
              </a:rPr>
              <a:t>平台账号、历史昵称与有效期，降低改名失联和同名误合并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44768" y="1719072"/>
            <a:ext cx="5193792" cy="1673352"/>
          </a:xfrm>
          <a:prstGeom prst="roundRect">
            <a:avLst/>
          </a:prstGeom>
          <a:solidFill>
            <a:srgbClr val="FFE5EF"/>
          </a:solidFill>
          <a:ln w="12700">
            <a:solidFill>
              <a:srgbClr val="F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1200" b="1" a:ea="Microsoft YaHei" a:latin="Aptos">
                <a:solidFill>
                  <a:srgbClr val="F64F8B"/>
                </a:solidFill>
                <a:latin typeface="Microsoft YaHei"/>
              </a:rPr>
              <a:t>02</a:t>
            </a:r>
          </a:p>
          <a:p>
            <a:pPr algn="l">
              <a:spcAft>
                <a:spcPts val="500"/>
              </a:spcAft>
            </a:pPr>
            <a:r>
              <a:rPr sz="2000" b="1" a:ea="Microsoft YaHei" a:latin="Aptos">
                <a:solidFill>
                  <a:srgbClr val="1F1F2D"/>
                </a:solidFill>
                <a:latin typeface="Microsoft YaHei"/>
              </a:rPr>
              <a:t>事实有证据</a:t>
            </a:r>
          </a:p>
          <a:p>
            <a:pPr algn="l">
              <a:spcAft>
                <a:spcPts val="500"/>
              </a:spcAft>
            </a:pPr>
            <a:r>
              <a:rPr sz="1200" b="0" a:ea="Microsoft YaHei" a:latin="Aptos">
                <a:solidFill>
                  <a:srgbClr val="605C6F"/>
                </a:solidFill>
                <a:latin typeface="Microsoft YaHei"/>
              </a:rPr>
              <a:t>来源、时间、确认状态与风险可见；无证据的 AI 值先清空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30752"/>
            <a:ext cx="5193792" cy="1673352"/>
          </a:xfrm>
          <a:prstGeom prst="roundRect">
            <a:avLst/>
          </a:prstGeom>
          <a:solidFill>
            <a:srgbClr val="DDF6F1"/>
          </a:solidFill>
          <a:ln w="12700">
            <a:solidFill>
              <a:srgbClr val="DDF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1200" b="1" a:ea="Microsoft YaHei" a:latin="Aptos">
                <a:solidFill>
                  <a:srgbClr val="27B5B0"/>
                </a:solidFill>
                <a:latin typeface="Microsoft YaHei"/>
              </a:rPr>
              <a:t>03</a:t>
            </a:r>
          </a:p>
          <a:p>
            <a:pPr algn="l">
              <a:spcAft>
                <a:spcPts val="500"/>
              </a:spcAft>
            </a:pPr>
            <a:r>
              <a:rPr sz="2000" b="1" a:ea="Microsoft YaHei" a:latin="Aptos">
                <a:solidFill>
                  <a:srgbClr val="1F1F2D"/>
                </a:solidFill>
                <a:latin typeface="Microsoft YaHei"/>
              </a:rPr>
              <a:t>推荐可复现</a:t>
            </a:r>
          </a:p>
          <a:p>
            <a:pPr algn="l">
              <a:spcAft>
                <a:spcPts val="500"/>
              </a:spcAft>
            </a:pPr>
            <a:r>
              <a:rPr sz="1200" b="0" a:ea="Microsoft YaHei" a:latin="Aptos">
                <a:solidFill>
                  <a:srgbClr val="605C6F"/>
                </a:solidFill>
                <a:latin typeface="Microsoft YaHei"/>
              </a:rPr>
              <a:t>本地规则召回 Top 3，AI 解释“为什么是他 / 不是另一个人”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3730752"/>
            <a:ext cx="5193792" cy="1673352"/>
          </a:xfrm>
          <a:prstGeom prst="roundRect">
            <a:avLst/>
          </a:prstGeom>
          <a:solidFill>
            <a:srgbClr val="F2EFF7"/>
          </a:solidFill>
          <a:ln w="12700">
            <a:solidFill>
              <a:srgbClr val="F2EF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1200" b="1" a:ea="Microsoft YaHei" a:latin="Aptos">
                <a:solidFill>
                  <a:srgbClr val="1F1F2D"/>
                </a:solidFill>
                <a:latin typeface="Microsoft YaHei"/>
              </a:rPr>
              <a:t>04</a:t>
            </a:r>
          </a:p>
          <a:p>
            <a:pPr algn="l">
              <a:spcAft>
                <a:spcPts val="500"/>
              </a:spcAft>
            </a:pPr>
            <a:r>
              <a:rPr sz="2000" b="1" a:ea="Microsoft YaHei" a:latin="Aptos">
                <a:solidFill>
                  <a:srgbClr val="1F1F2D"/>
                </a:solidFill>
                <a:latin typeface="Microsoft YaHei"/>
              </a:rPr>
              <a:t>采集最小暴露</a:t>
            </a:r>
          </a:p>
          <a:p>
            <a:pPr algn="l">
              <a:spcAft>
                <a:spcPts val="500"/>
              </a:spcAft>
            </a:pPr>
            <a:r>
              <a:rPr sz="1200" b="0" a:ea="Microsoft YaHei" a:latin="Aptos">
                <a:solidFill>
                  <a:srgbClr val="605C6F"/>
                </a:solidFill>
                <a:latin typeface="Microsoft YaHei"/>
              </a:rPr>
              <a:t>主动分享、确认入库、按次云同意；不抓取、不自动发送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5760720"/>
            <a:ext cx="6144768" cy="329184"/>
          </a:xfrm>
          <a:prstGeom prst="roundRect">
            <a:avLst/>
          </a:prstGeom>
          <a:solidFill>
            <a:srgbClr val="161423"/>
          </a:solidFill>
          <a:ln>
            <a:solidFill>
              <a:srgbClr val="1614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200" b="1" a:ea="Microsoft YaHei" a:latin="Aptos">
                <a:solidFill>
                  <a:srgbClr val="FFFFFF"/>
                </a:solidFill>
                <a:latin typeface="Microsoft YaHei"/>
              </a:rPr>
              <a:t>可信度来自数据契约与用户控制，不来自模型口头保证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47395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a:ea="Microsoft YaHei" a:latin="Aptos">
                <a:solidFill>
                  <a:srgbClr val="605C6F"/>
                </a:solidFill>
                <a:latin typeface="Microsoft YaHei"/>
              </a:rPr>
              <a:t>仅使用合成演示数据 · 不抓取社交平台 · 不自动发送消息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29260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 a:ea="Microsoft YaHei" a:latin="Aptos">
                <a:solidFill>
                  <a:srgbClr val="701FEB"/>
                </a:solidFill>
                <a:latin typeface="Microsoft YaHei"/>
              </a:rPr>
              <a:t>07 ·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30936"/>
            <a:ext cx="106984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a:ea="Microsoft YaHei" a:latin="Aptos">
                <a:solidFill>
                  <a:srgbClr val="1F1F2D"/>
                </a:solidFill>
                <a:latin typeface="Microsoft YaHei"/>
              </a:rPr>
              <a:t>演示规模与自动化门禁已经固定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170432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 a:ea="Microsoft YaHei" a:latin="Aptos">
                <a:solidFill>
                  <a:srgbClr val="605C6F"/>
                </a:solidFill>
                <a:latin typeface="Microsoft YaHei"/>
              </a:rPr>
              <a:t>这些数字来自当前工作树的本地实测，不是预测值。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90504" y="292608"/>
            <a:ext cx="713232" cy="329184"/>
          </a:xfrm>
          <a:prstGeom prst="roundRect">
            <a:avLst/>
          </a:prstGeom>
          <a:solidFill>
            <a:srgbClr val="EBE0FF"/>
          </a:solidFill>
          <a:ln>
            <a:solidFill>
              <a:srgbClr val="EB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 a:ea="Microsoft YaHei" a:latin="Aptos">
                <a:solidFill>
                  <a:srgbClr val="701FEB"/>
                </a:solidFill>
                <a:latin typeface="Microsoft YaHei"/>
              </a:rPr>
              <a:t>25 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82528" y="649224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0" a:ea="Microsoft YaHei" a:latin="Aptos">
                <a:solidFill>
                  <a:srgbClr val="605C6F"/>
                </a:solidFill>
                <a:latin typeface="Microsoft YaHei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92224"/>
            <a:ext cx="2414016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2900" b="1" a:ea="Microsoft YaHei" a:latin="Aptos">
                <a:solidFill>
                  <a:srgbClr val="701FEB"/>
                </a:solidFill>
                <a:latin typeface="Microsoft YaHei"/>
              </a:rPr>
              <a:t>172</a:t>
            </a:r>
          </a:p>
          <a:p>
            <a:pPr algn="l">
              <a:spcAft>
                <a:spcPts val="500"/>
              </a:spcAft>
            </a:pPr>
            <a:r>
              <a:rPr sz="1400" b="1" a:ea="Microsoft YaHei" a:latin="Aptos">
                <a:solidFill>
                  <a:srgbClr val="1F1F2D"/>
                </a:solidFill>
                <a:latin typeface="Microsoft YaHei"/>
              </a:rPr>
              <a:t>单元测试</a:t>
            </a:r>
          </a:p>
          <a:p>
            <a:pPr algn="l">
              <a:spcAft>
                <a:spcPts val="500"/>
              </a:spcAft>
            </a:pPr>
            <a:r>
              <a:rPr sz="1000" b="0" a:ea="Microsoft YaHei" a:latin="Aptos">
                <a:solidFill>
                  <a:srgbClr val="605C6F"/>
                </a:solidFill>
                <a:latin typeface="Microsoft YaHei"/>
              </a:rPr>
              <a:t>18 个测试文件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92224"/>
            <a:ext cx="2414016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2900" b="1" a:ea="Microsoft YaHei" a:latin="Aptos">
                <a:solidFill>
                  <a:srgbClr val="F64F8B"/>
                </a:solidFill>
                <a:latin typeface="Microsoft YaHei"/>
              </a:rPr>
              <a:t>17 × 2</a:t>
            </a:r>
          </a:p>
          <a:p>
            <a:pPr algn="l">
              <a:spcAft>
                <a:spcPts val="500"/>
              </a:spcAft>
            </a:pPr>
            <a:r>
              <a:rPr sz="1400" b="1" a:ea="Microsoft YaHei" a:latin="Aptos">
                <a:solidFill>
                  <a:srgbClr val="1F1F2D"/>
                </a:solidFill>
                <a:latin typeface="Microsoft YaHei"/>
              </a:rPr>
              <a:t>真实浏览器 E2E</a:t>
            </a:r>
          </a:p>
          <a:p>
            <a:pPr algn="l">
              <a:spcAft>
                <a:spcPts val="500"/>
              </a:spcAft>
            </a:pPr>
            <a:r>
              <a:rPr sz="1000" b="0" a:ea="Microsoft YaHei" a:latin="Aptos">
                <a:solidFill>
                  <a:srgbClr val="605C6F"/>
                </a:solidFill>
                <a:latin typeface="Microsoft YaHei"/>
              </a:rPr>
              <a:t>Chrome + Edge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92224"/>
            <a:ext cx="2414016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2900" b="1" a:ea="Microsoft YaHei" a:latin="Aptos">
                <a:solidFill>
                  <a:srgbClr val="27B5B0"/>
                </a:solidFill>
                <a:latin typeface="Microsoft YaHei"/>
              </a:rPr>
              <a:t>50 / 80</a:t>
            </a:r>
          </a:p>
          <a:p>
            <a:pPr algn="l">
              <a:spcAft>
                <a:spcPts val="500"/>
              </a:spcAft>
            </a:pPr>
            <a:r>
              <a:rPr sz="1400" b="1" a:ea="Microsoft YaHei" a:latin="Aptos">
                <a:solidFill>
                  <a:srgbClr val="1F1F2D"/>
                </a:solidFill>
                <a:latin typeface="Microsoft YaHei"/>
              </a:rPr>
              <a:t>合成人物 / 关系</a:t>
            </a:r>
          </a:p>
          <a:p>
            <a:pPr algn="l">
              <a:spcAft>
                <a:spcPts val="500"/>
              </a:spcAft>
            </a:pPr>
            <a:r>
              <a:rPr sz="1000" b="0" a:ea="Microsoft YaHei" a:latin="Aptos">
                <a:solidFill>
                  <a:srgbClr val="605C6F"/>
                </a:solidFill>
                <a:latin typeface="Microsoft YaHei"/>
              </a:rPr>
              <a:t>一键加载、可反复重置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39" y="1792224"/>
            <a:ext cx="2414016" cy="19019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D7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2900" b="1" a:ea="Microsoft YaHei" a:latin="Aptos">
                <a:solidFill>
                  <a:srgbClr val="1F1F2D"/>
                </a:solidFill>
                <a:latin typeface="Microsoft YaHei"/>
              </a:rPr>
              <a:t>3</a:t>
            </a:r>
          </a:p>
          <a:p>
            <a:pPr algn="l">
              <a:spcAft>
                <a:spcPts val="500"/>
              </a:spcAft>
            </a:pPr>
            <a:r>
              <a:rPr sz="1400" b="1" a:ea="Microsoft YaHei" a:latin="Aptos">
                <a:solidFill>
                  <a:srgbClr val="1F1F2D"/>
                </a:solidFill>
                <a:latin typeface="Microsoft YaHei"/>
              </a:rPr>
              <a:t>响应式宽度</a:t>
            </a:r>
          </a:p>
          <a:p>
            <a:pPr algn="l">
              <a:spcAft>
                <a:spcPts val="500"/>
              </a:spcAft>
            </a:pPr>
            <a:r>
              <a:rPr sz="1000" b="0" a:ea="Microsoft YaHei" a:latin="Aptos">
                <a:solidFill>
                  <a:srgbClr val="605C6F"/>
                </a:solidFill>
                <a:latin typeface="Microsoft YaHei"/>
              </a:rPr>
              <a:t>390 / 768 / 1440 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77639"/>
            <a:ext cx="6903720" cy="1417320"/>
          </a:xfrm>
          <a:prstGeom prst="roundRect">
            <a:avLst/>
          </a:prstGeom>
          <a:solidFill>
            <a:srgbClr val="EBE0FF"/>
          </a:solidFill>
          <a:ln w="12700">
            <a:solidFill>
              <a:srgbClr val="EBE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1300" b="1" a:ea="Microsoft YaHei" a:latin="Aptos">
                <a:solidFill>
                  <a:srgbClr val="701FEB"/>
                </a:solidFill>
                <a:latin typeface="Microsoft YaHei"/>
              </a:rPr>
              <a:t>全量门禁</a:t>
            </a:r>
          </a:p>
          <a:p>
            <a:pPr algn="l">
              <a:spcAft>
                <a:spcPts val="500"/>
              </a:spcAft>
            </a:pPr>
            <a:r>
              <a:rPr sz="1600" b="1" a:ea="Microsoft YaHei" a:latin="Aptos">
                <a:solidFill>
                  <a:srgbClr val="1F1F2D"/>
                </a:solidFill>
                <a:latin typeface="Microsoft YaHei"/>
              </a:rPr>
              <a:t>typecheck · lint 0 warning · format · build · audit 0 vulnerabilities</a:t>
            </a:r>
          </a:p>
          <a:p>
            <a:pPr algn="l">
              <a:spcAft>
                <a:spcPts val="500"/>
              </a:spcAft>
            </a:pPr>
            <a:r>
              <a:rPr sz="1100" b="0" a:ea="Microsoft YaHei" a:latin="Aptos">
                <a:solidFill>
                  <a:srgbClr val="605C6F"/>
                </a:solidFill>
                <a:latin typeface="Microsoft YaHei"/>
              </a:rPr>
              <a:t>E2E 阻断外部网络，并对未知 /api/* 请求 fail-closed。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3977639"/>
            <a:ext cx="3511296" cy="1417320"/>
          </a:xfrm>
          <a:prstGeom prst="roundRect">
            <a:avLst/>
          </a:prstGeom>
          <a:solidFill>
            <a:srgbClr val="FFE5EF"/>
          </a:solidFill>
          <a:ln w="12700">
            <a:solidFill>
              <a:srgbClr val="FF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1300" b="1" a:ea="Microsoft YaHei" a:latin="Aptos">
                <a:solidFill>
                  <a:srgbClr val="F64F8B"/>
                </a:solidFill>
                <a:latin typeface="Microsoft YaHei"/>
              </a:rPr>
              <a:t>已知边界</a:t>
            </a:r>
          </a:p>
          <a:p>
            <a:pPr algn="l">
              <a:spcAft>
                <a:spcPts val="500"/>
              </a:spcAft>
            </a:pPr>
            <a:r>
              <a:rPr sz="1200" b="0" a:ea="Microsoft YaHei" a:latin="Aptos">
                <a:solidFill>
                  <a:srgbClr val="1F1F2D"/>
                </a:solidFill>
                <a:latin typeface="Microsoft YaHei"/>
              </a:rPr>
              <a:t>当前证据绑定仍是保守启发式；跨段代词、语义蕴含与完整证据区间列入 Track B。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6473952"/>
            <a:ext cx="98755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 a:ea="Microsoft YaHei" a:latin="Aptos">
                <a:solidFill>
                  <a:srgbClr val="605C6F"/>
                </a:solidFill>
                <a:latin typeface="Microsoft YaHei"/>
              </a:rPr>
              <a:t>仅使用合成演示数据 · 不抓取社交平台 · 不自动发送消息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4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38912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1" a:ea="Microsoft YaHei" a:latin="Aptos">
                <a:solidFill>
                  <a:srgbClr val="BEB7CD"/>
                </a:solidFill>
                <a:latin typeface="Microsoft YaHei"/>
              </a:rPr>
              <a:t>08 ·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99669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800" b="1" a:ea="Microsoft YaHei" a:latin="Aptos">
                <a:solidFill>
                  <a:srgbClr val="FFFFFF"/>
                </a:solidFill>
                <a:latin typeface="Microsoft YaHei"/>
              </a:rPr>
              <a:t>下一步：从可演示原型走向可托付的个人工具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98480" y="438912"/>
            <a:ext cx="786384" cy="329184"/>
          </a:xfrm>
          <a:prstGeom prst="roundRect">
            <a:avLst/>
          </a:prstGeom>
          <a:solidFill>
            <a:srgbClr val="F64F8B"/>
          </a:solidFill>
          <a:ln>
            <a:solidFill>
              <a:srgbClr val="F6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0" bIns="0"/>
          <a:lstStyle/>
          <a:p>
            <a:pPr algn="ctr"/>
            <a:r>
              <a:rPr sz="1000" b="1" a:ea="Microsoft YaHei" a:latin="Aptos">
                <a:solidFill>
                  <a:srgbClr val="FFFFFF"/>
                </a:solidFill>
                <a:latin typeface="Microsoft YaHei"/>
              </a:rPr>
              <a:t>15 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74519"/>
            <a:ext cx="3337560" cy="3090672"/>
          </a:xfrm>
          <a:prstGeom prst="roundRect">
            <a:avLst/>
          </a:prstGeom>
          <a:solidFill>
            <a:srgbClr val="292439"/>
          </a:solidFill>
          <a:ln w="12700">
            <a:solidFill>
              <a:srgbClr val="46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1400" b="1" a:ea="Microsoft YaHei" a:latin="Aptos">
                <a:solidFill>
                  <a:srgbClr val="F64F8B"/>
                </a:solidFill>
                <a:latin typeface="Microsoft YaHei"/>
              </a:rPr>
              <a:t>初评前</a:t>
            </a:r>
          </a:p>
          <a:p>
            <a:pPr algn="l">
              <a:spcAft>
                <a:spcPts val="500"/>
              </a:spcAft>
            </a:pPr>
            <a:r>
              <a:rPr sz="1700" b="1" a:ea="Microsoft YaHei" a:latin="Aptos">
                <a:solidFill>
                  <a:srgbClr val="FFFFFF"/>
                </a:solidFill>
                <a:latin typeface="Microsoft YaHei"/>
              </a:rPr>
              <a:t>部署链接与无痕复测</a:t>
            </a:r>
          </a:p>
          <a:p>
            <a:pPr algn="l">
              <a:spcAft>
                <a:spcPts val="500"/>
              </a:spcAft>
            </a:pPr>
            <a:r>
              <a:rPr sz="1200" b="0" a:ea="Microsoft YaHei" a:latin="Aptos">
                <a:solidFill>
                  <a:srgbClr val="CDC7DA"/>
                </a:solidFill>
                <a:latin typeface="Microsoft YaHei"/>
              </a:rPr>
              <a:t>录屏、字幕、信息表与合规自查</a:t>
            </a:r>
          </a:p>
          <a:p>
            <a:pPr algn="l">
              <a:spcAft>
                <a:spcPts val="500"/>
              </a:spcAft>
            </a:pPr>
            <a:r>
              <a:rPr sz="1200" b="0" a:ea="Microsoft YaHei" a:latin="Aptos">
                <a:solidFill>
                  <a:srgbClr val="CDC7DA"/>
                </a:solidFill>
                <a:latin typeface="Microsoft YaHei"/>
              </a:rPr>
              <a:t>队长完成文件命名与邮件回执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24528" y="1874519"/>
            <a:ext cx="3968496" cy="3090672"/>
          </a:xfrm>
          <a:prstGeom prst="roundRect">
            <a:avLst/>
          </a:prstGeom>
          <a:solidFill>
            <a:srgbClr val="292439"/>
          </a:solidFill>
          <a:ln w="12700">
            <a:solidFill>
              <a:srgbClr val="463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37160" bIns="137160"/>
          <a:lstStyle/>
          <a:p>
            <a:pPr algn="l">
              <a:spcAft>
                <a:spcPts val="500"/>
              </a:spcAft>
            </a:pPr>
            <a:r>
              <a:rPr sz="1400" b="1" a:ea="Microsoft YaHei" a:latin="Aptos">
                <a:solidFill>
                  <a:srgbClr val="27B5B0"/>
                </a:solidFill>
                <a:latin typeface="Microsoft YaHei"/>
              </a:rPr>
              <a:t>Track B</a:t>
            </a:r>
          </a:p>
          <a:p>
            <a:pPr algn="l">
              <a:spcAft>
                <a:spcPts val="500"/>
              </a:spcAft>
            </a:pPr>
            <a:r>
              <a:rPr sz="1500" b="1" a:ea="Microsoft YaHei" a:latin="Aptos">
                <a:solidFill>
                  <a:srgbClr val="FFFFFF"/>
                </a:solidFill>
                <a:latin typeface="Microsoft YaHei"/>
              </a:rPr>
              <a:t>证据 ID · 原文区间 · 实体归属</a:t>
            </a:r>
          </a:p>
          <a:p>
            <a:pPr algn="l">
              <a:spcAft>
                <a:spcPts val="500"/>
              </a:spcAft>
            </a:pPr>
            <a:r>
              <a:rPr sz="1200" b="0" a:ea="Microsoft YaHei" a:latin="Aptos">
                <a:solidFill>
                  <a:srgbClr val="CDC7DA"/>
                </a:solidFill>
                <a:latin typeface="Microsoft YaHei"/>
              </a:rPr>
              <a:t>加密备份、恢复、审计与数据迁移</a:t>
            </a:r>
          </a:p>
          <a:p>
            <a:pPr algn="l">
              <a:spcAft>
                <a:spcPts val="500"/>
              </a:spcAft>
            </a:pPr>
            <a:r>
              <a:rPr sz="1200" b="0" a:ea="Microsoft YaHei" a:latin="Aptos">
                <a:solidFill>
                  <a:srgbClr val="CDC7DA"/>
                </a:solidFill>
                <a:latin typeface="Microsoft YaHei"/>
              </a:rPr>
              <a:t>15 分钟导入 30 人的真实用户试验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1874519"/>
            <a:ext cx="2788920" cy="309067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64F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59952" y="2542032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900" b="1" a:ea="Microsoft YaHei" a:latin="Aptos">
                <a:solidFill>
                  <a:srgbClr val="1F1F2D"/>
                </a:solidFill>
                <a:latin typeface="Microsoft YaHei"/>
              </a:rPr>
              <a:t>部署二维码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59952" y="3154680"/>
            <a:ext cx="22860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 a:ea="Microsoft YaHei" a:latin="Aptos">
                <a:solidFill>
                  <a:srgbClr val="F64F8B"/>
                </a:solidFill>
                <a:latin typeface="Microsoft YaHei"/>
              </a:rPr>
              <a:t>[待部署后替换]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" y="5596128"/>
            <a:ext cx="10561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 a:ea="Microsoft YaHei" a:latin="Aptos">
                <a:solidFill>
                  <a:srgbClr val="FFFFFF"/>
                </a:solidFill>
                <a:latin typeface="Microsoft YaHei"/>
              </a:rPr>
              <a:t>知脉 Connect：把“记得这个人”，变成“知道下一步为什么这样做”。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" y="6263640"/>
            <a:ext cx="7863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 a:ea="Microsoft YaHei" a:latin="Aptos">
                <a:solidFill>
                  <a:srgbClr val="FFB1D2"/>
                </a:solidFill>
                <a:latin typeface="Microsoft YaHei"/>
              </a:rPr>
              <a:t>队长：[待填写] · 院系：[待填写] · 链接：[待填写]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知脉 Connect · 五分钟竞赛演示</dc:title>
  <dc:subject>本地优先、证据可追溯的人际关系记忆与行动助手</dc:subject>
  <dc:creator>知脉 Connect 团队（待补充队长与院系）</dc:creator>
  <cp:keywords>知脉 Connect, Vibe Coding, 人际关系, 本地优先, 证据可追溯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